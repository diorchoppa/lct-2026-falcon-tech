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65" r:id="rId2"/>
    <p:sldId id="366" r:id="rId3"/>
    <p:sldId id="362" r:id="rId4"/>
    <p:sldId id="364" r:id="rId5"/>
    <p:sldId id="375" r:id="rId6"/>
    <p:sldId id="1010" r:id="rId7"/>
    <p:sldId id="1000" r:id="rId8"/>
    <p:sldId id="1001" r:id="rId9"/>
    <p:sldId id="1002" r:id="rId10"/>
    <p:sldId id="1003" r:id="rId11"/>
    <p:sldId id="1004" r:id="rId12"/>
    <p:sldId id="1005" r:id="rId13"/>
    <p:sldId id="1006" r:id="rId14"/>
    <p:sldId id="1007" r:id="rId15"/>
    <p:sldId id="1008" r:id="rId16"/>
    <p:sldId id="1009" r:id="rId1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  <p14:sldId id="1010"/>
            <p14:sldId id="1000"/>
            <p14:sldId id="1001"/>
            <p14:sldId id="1002"/>
            <p14:sldId id="1003"/>
            <p14:sldId id="1004"/>
            <p14:sldId id="1005"/>
            <p14:sldId id="1006"/>
            <p14:sldId id="1007"/>
            <p14:sldId id="1008"/>
            <p14:sldId id="1009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5" autoAdjust="0"/>
    <p:restoredTop sz="95876"/>
  </p:normalViewPr>
  <p:slideViewPr>
    <p:cSldViewPr snapToGrid="0" showGuides="1">
      <p:cViewPr varScale="1">
        <p:scale>
          <a:sx n="216" d="100"/>
          <a:sy n="216" d="100"/>
        </p:scale>
        <p:origin x="896" y="18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en" sz="1500">
                <a:solidFill>
                  <a:srgbClr val="510C76"/>
                </a:solidFill>
                <a:latin typeface="Calibri"/>
                <a:ea typeface="Calibri"/>
                <a:cs typeface="Calibri"/>
              </a:rPr>
              <a:t>mAP@10 </a:t>
            </a:r>
            <a:r>
              <a:rPr lang="ru-RU" sz="1500">
                <a:solidFill>
                  <a:srgbClr val="510C76"/>
                </a:solidFill>
                <a:latin typeface="Calibri"/>
                <a:ea typeface="Calibri"/>
                <a:cs typeface="Calibri"/>
              </a:rPr>
              <a:t>по ролям оценки,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mAP@10 (%)</c:v>
          </c:tx>
          <c:spPr>
            <a:solidFill>
              <a:srgbClr val="510C7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>
                    <a:latin typeface="Calibri"/>
                    <a:ea typeface="Calibri"/>
                    <a:cs typeface="Calibri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SEARCH</c:v>
                </c:pt>
                <c:pt idx="1">
                  <c:v>Калибровка</c:v>
                </c:pt>
                <c:pt idx="2">
                  <c:v>Аудит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92.004999999999995</c:v>
                </c:pt>
                <c:pt idx="1">
                  <c:v>83</c:v>
                </c:pt>
                <c:pt idx="2">
                  <c:v>87.003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54-7C49-B872-403C7214B8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Препроцессинг на </a:t>
            </a: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CPU, </a:t>
            </a:r>
            <a:r>
              <a:rPr lang="ru-RU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медиана, мс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мс</c:v>
          </c:tx>
          <c:spPr>
            <a:solidFill>
              <a:srgbClr val="FF0060"/>
            </a:solidFill>
          </c:spPr>
          <c:invertIfNegative val="1"/>
          <c:cat>
            <c:strRef>
              <c:f>'Chart Data'!$A$2:$A$3</c:f>
              <c:strCache>
                <c:ptCount val="2"/>
                <c:pt idx="0">
                  <c:v>Исходный</c:v>
                </c:pt>
                <c:pt idx="1">
                  <c:v>После оптимизации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9.8059999999999992</c:v>
                </c:pt>
                <c:pt idx="1">
                  <c:v>5.62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2E4-8A46-9484-F12F81E1D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t>29.09.2026</a:t>
            </a:fld>
            <a:endParaRPr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Цифровой признак автомобиля без госномера</a:t>
            </a:r>
            <a:endParaRPr lang="ru-RU" sz="4800" dirty="0"/>
          </a:p>
        </p:txBody>
      </p:sp>
      <p:pic>
        <p:nvPicPr>
          <p:cNvPr id="4" name="Рисунок 3" descr="falcon_whit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305186" y="604012"/>
            <a:ext cx="5193299" cy="534167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Команда znatalk.ai  •  ЛЦТ 2026, кейс Фалькон Тех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logo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698" b="8628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DINOv3 ViT-L/16, дообученный на 416 тыс. публичных снимков и данных конкурса; откалиброванный отказ; одна ONNX-модель в контуре жюри и в сервисе на Rust + pgvector.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Дворядкин Кирилл, тимлид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друзья и коллеги, вместе зарегистрировались на хакатон;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работа/учёба: Госинспекция по недвижимости, НИТУ МИСИС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>
                <a:solidFill>
                  <a:schemeClr val="accent5"/>
                </a:solidFill>
              </a:rPr>
              <a:t>КОМАНДА «ZNATALK.AI»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Находим тот же автомобиль на снимках разных камер только по внешнему виду: оператор выделяет машину на кадре и получает топ-10 кандидатов или обоснованный отказ.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ML-инженер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ru-RU" sz="1200" dirty="0" err="1">
                <a:solidFill>
                  <a:schemeClr val="tx1"/>
                </a:solidFill>
              </a:rPr>
              <a:t>sglukhovcom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+7 968 573-05-21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Госинспекция</a:t>
            </a:r>
            <a:r>
              <a:rPr lang="ru-RU" sz="1200" dirty="0">
                <a:solidFill>
                  <a:schemeClr val="tx1"/>
                </a:solidFill>
              </a:rPr>
              <a:t> по недвижимости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Сергей Глухов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Бэкенд-разработчик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@servan_t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+7 985 436-35-61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НИТУ МИСИС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Иван Вологин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kirill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2955" b="6895"/>
          <a:stretch>
            <a:fillRect/>
          </a:stretch>
        </p:blipFill>
        <p:spPr>
          <a:xfrm>
            <a:off x="5191785" y="1826554"/>
            <a:ext cx="1722566" cy="1552901"/>
          </a:xfrm>
        </p:spPr>
      </p:pic>
      <p:pic>
        <p:nvPicPr>
          <p:cNvPr id="3" name="Рисунок 2" descr="sergei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3138" b="7321"/>
          <a:stretch>
            <a:fillRect/>
          </a:stretch>
        </p:blipFill>
        <p:spPr>
          <a:xfrm>
            <a:off x="2886467" y="1826554"/>
            <a:ext cx="1722566" cy="1542401"/>
          </a:xfrm>
        </p:spPr>
      </p:pic>
      <p:pic>
        <p:nvPicPr>
          <p:cNvPr id="4" name="Рисунок 3" descr="ivan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t="2836" b="6618"/>
          <a:stretch>
            <a:fillRect/>
          </a:stretch>
        </p:blipFill>
        <p:spPr>
          <a:xfrm>
            <a:off x="581148" y="1826554"/>
            <a:ext cx="1722567" cy="1559717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Капитан, тимлид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@KD_ATW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+7 920 544-59-01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Госинспекция по недвижимости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Кирилл Дворядкин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КОМАНДЫ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107947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err="1">
                <a:solidFill>
                  <a:schemeClr val="tx1"/>
                </a:solidFill>
              </a:rPr>
              <a:t>Друллеги</a:t>
            </a:r>
            <a:r>
              <a:rPr lang="ru-RU" dirty="0">
                <a:solidFill>
                  <a:schemeClr val="tx1"/>
                </a:solidFill>
              </a:rPr>
              <a:t>, вместе работали в </a:t>
            </a:r>
            <a:r>
              <a:rPr lang="ru-RU" dirty="0" err="1">
                <a:solidFill>
                  <a:schemeClr val="tx1"/>
                </a:solidFill>
              </a:rPr>
              <a:t>Госинспекции</a:t>
            </a:r>
            <a:r>
              <a:rPr lang="ru-RU" dirty="0">
                <a:solidFill>
                  <a:schemeClr val="tx1"/>
                </a:solidFill>
              </a:rPr>
              <a:t> по недвижимости, вместе учились. Зарегистрировались и сразу поделили зоны: ML, нативный бэкенд, инфраструктура и интерфейс.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Zero-shot модели узнавали камеру, а не машину, и мы перешли к метрическому обучению с выборкой по камерам. Перед и зад, одинаковые машины каршеринга и ночь остаются главными ошибками.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Бюджет ≤ 40 мс на GPU уложили через ONNX FP16 и ускоренный препроцессинг; честность оценки - раздельными фолдами для отбора модели, порога и аудита.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Прикладной городской сценарий, где номер часто не виден, и честная метрика: хотелось сделать не только модель, но и рабочий сервис для оператора.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DINOv3 ViT-L/16 + BN-neck → вектор 1 024, L2-норма; вход только кроп по bbox.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Обучение: VERI-Wild (416 314 снимков, 40 671 ТС) → данные конкурса, выборка 2+2 по камерам, triplet + CE.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Поиск: косинус + DBA по галерее; отказ, если топ-1 ниже порога 0,7207.</a:t>
            </a:r>
          </a:p>
          <a:p>
            <a:r>
              <a:rPr lang="ru-RU" sz="1400" dirty="0">
                <a:solidFill>
                  <a:schemeClr val="tx1"/>
                </a:solidFill>
              </a:rPr>
              <a:t>SEARCH mAP@10 92,00 %, аудит 87,00 %; 22–25 мс и 180+ FPS на RTX 3090.</a:t>
            </a:r>
          </a:p>
          <a:p>
            <a:r>
              <a:rPr lang="ru-RU" sz="1400" dirty="0">
                <a:solidFill>
                  <a:schemeClr val="tx1"/>
                </a:solidFill>
              </a:rPr>
              <a:t>Rust-сервисы (gRPC), PostgreSQL + pgvector, React, OpenAPI, Docker Compose.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Оператор получает топ-10 кандидатов с оценкой близости вместо ручного просмотра архива камер.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Работает, когда номер нечитаем: грязь, блики, ракурс, перекрытие.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Отказ при слабом совпадении снижает ложные срабатывания.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Развитие: связка с событиями, где номер известен; потоковая обработка камер; дообучение на подтверждённых оператором парах.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572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Zero-shot энкодеры различали камеру, а не машину: CLIP ViT-B/16 лишь 0,137 mAP@10. Нужна метрическая доводка.</a:t>
            </a:r>
          </a:p>
          <a:p>
            <a:r>
              <a:rPr lang="ru-RU" sz="1400" dirty="0">
                <a:solidFill>
                  <a:schemeClr val="tx1"/>
                </a:solidFill>
              </a:rPr>
              <a:t>DINOv3 самообучаемый foundation-энкодер с сильными мелкозернистыми признаками: детали кузова, диски, наклейки.</a:t>
            </a:r>
          </a:p>
          <a:p>
            <a:r>
              <a:rPr lang="ru-RU" sz="1400" dirty="0">
                <a:solidFill>
                  <a:schemeClr val="tx1"/>
                </a:solidFill>
              </a:rPr>
              <a:t>ViT-L/16 при 256×256 укладывается в бюджет жюри: 22–25 мс на кадр, 607 МБ при лимите 2 ГБ.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Номер, OCR, камера и время в модель не поступают.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Предобучение на VERI-Wild: 416 314 снимков, 40 671 ТС, разное время суток и погода.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Выборка 2+2: у каждой машины в батче кадры с двух разных камер, модель сводит ракурсы.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Batch-hard triplet + CE со сглаживанием меток, BN-neck.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DBA по галерее (k=4, α=2) сглаживает её по соседям; запросы независимы.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Контроль: маска зоны номера снижает SEARCH лишь на 0,71 п.п.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МЕТОДОЛОГИЯ И BACKBONE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Почему DINOv3 ViT-L/16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Ракурс и освещение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622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C630A04-5A25-9E0C-9436-126091DB86B3}" type="slidenum">
              <a:rPr>
                <a:solidFill>
                  <a:schemeClr val="bg1"/>
                </a:solidFill>
              </a:rPr>
              <a:t>7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b="1">
                <a:solidFill>
                  <a:srgbClr val="F92571"/>
                </a:solidFill>
              </a:rPr>
              <a:t>Разделение ролей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128740"/>
            <a:ext cx="2284071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9 556 размеченных снимков конкурса; 1 860 входных снимков жюри.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FIT, SEARCH, калибровка и аудит не пересекаются по машинам и сценам.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Снимков жюри в обучении нет. Проверка хешей и декодированных пикселей: пересечений между ролями нет.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b="1">
                <a:solidFill>
                  <a:srgbClr val="F92571"/>
                </a:solidFill>
              </a:rPr>
              <a:t>Внешнее обучение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134070"/>
            <a:ext cx="2337416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 dirty="0" err="1">
                <a:solidFill>
                  <a:srgbClr val="111111"/>
                </a:solidFill>
              </a:rPr>
              <a:t>Публичный</a:t>
            </a:r>
            <a:r>
              <a:rPr sz="1275" b="0" dirty="0">
                <a:solidFill>
                  <a:srgbClr val="111111"/>
                </a:solidFill>
              </a:rPr>
              <a:t> VERI-Wild TRAIN + TEST: 416 314 </a:t>
            </a:r>
            <a:r>
              <a:rPr sz="1275" b="0" dirty="0" err="1">
                <a:solidFill>
                  <a:srgbClr val="111111"/>
                </a:solidFill>
              </a:rPr>
              <a:t>снимков</a:t>
            </a:r>
            <a:r>
              <a:rPr sz="1275" b="0" dirty="0">
                <a:solidFill>
                  <a:srgbClr val="111111"/>
                </a:solidFill>
              </a:rPr>
              <a:t>, 40 671 ТС. </a:t>
            </a:r>
            <a:r>
              <a:rPr sz="1275" b="0" dirty="0" err="1">
                <a:solidFill>
                  <a:srgbClr val="111111"/>
                </a:solidFill>
              </a:rPr>
              <a:t>Обучение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на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внешнем</a:t>
            </a:r>
            <a:r>
              <a:rPr sz="1275" b="0" dirty="0">
                <a:solidFill>
                  <a:srgbClr val="111111"/>
                </a:solidFill>
              </a:rPr>
              <a:t> test </a:t>
            </a:r>
            <a:r>
              <a:rPr lang="ru-RU" sz="1275" b="0" dirty="0">
                <a:solidFill>
                  <a:srgbClr val="111111"/>
                </a:solidFill>
              </a:rPr>
              <a:t>было </a:t>
            </a:r>
            <a:r>
              <a:rPr sz="1275" b="0" dirty="0" err="1">
                <a:solidFill>
                  <a:srgbClr val="111111"/>
                </a:solidFill>
              </a:rPr>
              <a:t>разрешено</a:t>
            </a:r>
            <a:r>
              <a:rPr sz="1275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 dirty="0" err="1">
                <a:solidFill>
                  <a:srgbClr val="111111"/>
                </a:solidFill>
              </a:rPr>
              <a:t>Каждый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файл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перехеширован</a:t>
            </a:r>
            <a:r>
              <a:rPr sz="1275" b="0" dirty="0">
                <a:solidFill>
                  <a:srgbClr val="111111"/>
                </a:solidFill>
              </a:rPr>
              <a:t>: </a:t>
            </a:r>
            <a:r>
              <a:rPr sz="1275" b="0" dirty="0" err="1">
                <a:solidFill>
                  <a:srgbClr val="111111"/>
                </a:solidFill>
              </a:rPr>
              <a:t>точных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пересечений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с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конкурсом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нет</a:t>
            </a:r>
            <a:r>
              <a:rPr sz="1275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 dirty="0" err="1">
                <a:solidFill>
                  <a:srgbClr val="111111"/>
                </a:solidFill>
              </a:rPr>
              <a:t>Ревизия</a:t>
            </a:r>
            <a:r>
              <a:rPr sz="1275" b="0" dirty="0">
                <a:solidFill>
                  <a:srgbClr val="111111"/>
                </a:solidFill>
              </a:rPr>
              <a:t> foundation-</a:t>
            </a:r>
            <a:r>
              <a:rPr sz="1275" b="0" dirty="0" err="1">
                <a:solidFill>
                  <a:srgbClr val="111111"/>
                </a:solidFill>
              </a:rPr>
              <a:t>модели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и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лицензии</a:t>
            </a:r>
            <a:r>
              <a:rPr sz="1275" b="0" dirty="0">
                <a:solidFill>
                  <a:srgbClr val="111111"/>
                </a:solidFill>
              </a:rPr>
              <a:t> </a:t>
            </a:r>
            <a:r>
              <a:rPr sz="1275" b="0" dirty="0" err="1">
                <a:solidFill>
                  <a:srgbClr val="111111"/>
                </a:solidFill>
              </a:rPr>
              <a:t>зафиксированы</a:t>
            </a:r>
            <a:r>
              <a:rPr sz="1275" b="0" dirty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b="1">
                <a:solidFill>
                  <a:srgbClr val="F92571"/>
                </a:solidFill>
              </a:rPr>
              <a:t>Дообучение на конкурсе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136604"/>
            <a:ext cx="2268537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Замороженный прогон FIT-v8: 5 722 кропа, 928 ТС, 8 эпох.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Метрическое обучение: triplet + BN-neck. Рецепт и снимки исходников сохранены.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24 исторических исключения FIT раскрыты. Новых чисток и переразметки нет.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b="1">
                <a:solidFill>
                  <a:srgbClr val="F92571"/>
                </a:solidFill>
              </a:rPr>
              <a:t>Замороженная оценка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128739"/>
            <a:ext cx="2263553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SEARCH выбирал модель. Калибровка выбирала пороги отказа.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Аудит ранее открывался для прошлой модели: не выдаём его за нетронутый тест.</a:t>
            </a:r>
          </a:p>
          <a:p>
            <a:pPr>
              <a:spcAft>
                <a:spcPts val="500"/>
              </a:spcAft>
              <a:defRPr sz="12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111"/>
                </a:solidFill>
              </a:rPr>
              <a:t>Модель и пороги заморожены до новой калибровки и аудита.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ПРОТОКОЛ ОБУЧЕНИЯ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D3D7D1C8-AE23-AA48-DF65-C742588DBE47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1111"/>
                </a:solidFill>
              </a:rPr>
              <a:t>1. Кадр и рамка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Оператор загружает кадр и выделяет машину в браузере.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API валидирует запрос. Энкодер строит нормированный вектор внешнего вида по кропу.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11111"/>
                </a:solidFill>
              </a:rPr>
              <a:t>2. </a:t>
            </a:r>
            <a:r>
              <a:rPr sz="1650" b="1" dirty="0" err="1">
                <a:solidFill>
                  <a:srgbClr val="111111"/>
                </a:solidFill>
              </a:rPr>
              <a:t>Поиск</a:t>
            </a:r>
            <a:r>
              <a:rPr sz="1650" b="1" dirty="0">
                <a:solidFill>
                  <a:srgbClr val="111111"/>
                </a:solidFill>
              </a:rPr>
              <a:t> </a:t>
            </a:r>
            <a:r>
              <a:rPr sz="1650" b="1" dirty="0" err="1">
                <a:solidFill>
                  <a:srgbClr val="111111"/>
                </a:solidFill>
              </a:rPr>
              <a:t>по</a:t>
            </a:r>
            <a:r>
              <a:rPr sz="1650" b="1" dirty="0">
                <a:solidFill>
                  <a:srgbClr val="111111"/>
                </a:solidFill>
              </a:rPr>
              <a:t> </a:t>
            </a:r>
            <a:r>
              <a:rPr sz="1650" b="1" dirty="0" err="1">
                <a:solidFill>
                  <a:srgbClr val="111111"/>
                </a:solidFill>
              </a:rPr>
              <a:t>галерее</a:t>
            </a:r>
            <a:endParaRPr sz="1650" b="1" dirty="0">
              <a:solidFill>
                <a:srgbClr val="111111"/>
              </a:solidFill>
            </a:endParaRP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Сервис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ищет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в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pgvector</a:t>
            </a:r>
            <a:r>
              <a:rPr sz="1350" b="0" dirty="0">
                <a:solidFill>
                  <a:srgbClr val="111111"/>
                </a:solidFill>
              </a:rPr>
              <a:t> HNSW </a:t>
            </a:r>
            <a:r>
              <a:rPr sz="1350" b="0" dirty="0" err="1">
                <a:solidFill>
                  <a:srgbClr val="111111"/>
                </a:solidFill>
              </a:rPr>
              <a:t>по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текущей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версии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модели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Возвращает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до</a:t>
            </a:r>
            <a:r>
              <a:rPr sz="1350" b="0" dirty="0">
                <a:solidFill>
                  <a:srgbClr val="111111"/>
                </a:solidFill>
              </a:rPr>
              <a:t> 10 </a:t>
            </a:r>
            <a:r>
              <a:rPr sz="1350" b="0" dirty="0" err="1">
                <a:solidFill>
                  <a:srgbClr val="111111"/>
                </a:solidFill>
              </a:rPr>
              <a:t>кандидатов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оценкой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близости</a:t>
            </a:r>
            <a:r>
              <a:rPr sz="1350" b="0" dirty="0">
                <a:solidFill>
                  <a:srgbClr val="111111"/>
                </a:solidFill>
              </a:rPr>
              <a:t>. </a:t>
            </a:r>
            <a:r>
              <a:rPr sz="1350" b="0" dirty="0" err="1">
                <a:solidFill>
                  <a:srgbClr val="111111"/>
                </a:solidFill>
              </a:rPr>
              <a:t>Порог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косинуса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в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сервисе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lang="ru-RU" sz="1350" b="0" dirty="0">
                <a:solidFill>
                  <a:srgbClr val="111111"/>
                </a:solidFill>
              </a:rPr>
              <a:t>=</a:t>
            </a:r>
            <a:r>
              <a:rPr sz="1350" b="0" dirty="0">
                <a:solidFill>
                  <a:srgbClr val="111111"/>
                </a:solidFill>
              </a:rPr>
              <a:t> 0,695986.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dirty="0">
                <a:solidFill>
                  <a:srgbClr val="111111"/>
                </a:solidFill>
              </a:rPr>
              <a:t>3. </a:t>
            </a:r>
            <a:r>
              <a:rPr sz="1650" b="1" dirty="0" err="1">
                <a:solidFill>
                  <a:srgbClr val="111111"/>
                </a:solidFill>
              </a:rPr>
              <a:t>Проверка</a:t>
            </a:r>
            <a:r>
              <a:rPr sz="1650" b="1" dirty="0">
                <a:solidFill>
                  <a:srgbClr val="111111"/>
                </a:solidFill>
              </a:rPr>
              <a:t> </a:t>
            </a:r>
            <a:r>
              <a:rPr sz="1650" b="1" dirty="0" err="1">
                <a:solidFill>
                  <a:srgbClr val="111111"/>
                </a:solidFill>
              </a:rPr>
              <a:t>или</a:t>
            </a:r>
            <a:r>
              <a:rPr sz="1650" b="1" dirty="0">
                <a:solidFill>
                  <a:srgbClr val="111111"/>
                </a:solidFill>
              </a:rPr>
              <a:t> </a:t>
            </a:r>
            <a:r>
              <a:rPr sz="1650" b="1" dirty="0" err="1">
                <a:solidFill>
                  <a:srgbClr val="111111"/>
                </a:solidFill>
              </a:rPr>
              <a:t>отказ</a:t>
            </a:r>
            <a:endParaRPr sz="1650" b="1" dirty="0">
              <a:solidFill>
                <a:srgbClr val="111111"/>
              </a:solidFill>
            </a:endParaRP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Оператор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сравнивает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кропы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детали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кандидатов</a:t>
            </a:r>
            <a:r>
              <a:rPr sz="1350" b="0" dirty="0">
                <a:solidFill>
                  <a:srgbClr val="111111"/>
                </a:solidFill>
              </a:rPr>
              <a:t>. </a:t>
            </a:r>
            <a:r>
              <a:rPr sz="1350" b="0" dirty="0" err="1">
                <a:solidFill>
                  <a:srgbClr val="111111"/>
                </a:solidFill>
              </a:rPr>
              <a:t>Слабое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совпадение</a:t>
            </a:r>
            <a:r>
              <a:rPr sz="1350" b="0" dirty="0">
                <a:solidFill>
                  <a:srgbClr val="111111"/>
                </a:solidFill>
              </a:rPr>
              <a:t> — </a:t>
            </a:r>
            <a:r>
              <a:rPr sz="1350" b="0" dirty="0" err="1">
                <a:solidFill>
                  <a:srgbClr val="111111"/>
                </a:solidFill>
              </a:rPr>
              <a:t>отказ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Экспорт</a:t>
            </a:r>
            <a:r>
              <a:rPr sz="1350" b="0" dirty="0">
                <a:solidFill>
                  <a:srgbClr val="111111"/>
                </a:solidFill>
              </a:rPr>
              <a:t> CSV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управление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галереей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в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интерфейсе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через</a:t>
            </a:r>
            <a:r>
              <a:rPr sz="1350" b="0" dirty="0">
                <a:solidFill>
                  <a:srgbClr val="111111"/>
                </a:solidFill>
              </a:rPr>
              <a:t> REST API.</a:t>
            </a:r>
          </a:p>
        </p:txBody>
      </p:sp>
      <p:cxnSp>
        <p:nvCxnSpPr>
          <p:cNvPr id="119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noGrp="1"/>
          </p:cNvSpPr>
          <p:nvPr/>
        </p:nvSpPr>
        <p:spPr>
          <a:xfrm>
            <a:off x="2041584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noGrp="1"/>
          </p:cNvSpPr>
          <p:nvPr/>
        </p:nvSpPr>
        <p:spPr>
          <a:xfrm>
            <a:off x="2147599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noGrp="1"/>
          </p:cNvSpPr>
          <p:nvPr/>
        </p:nvSpPr>
        <p:spPr>
          <a:xfrm>
            <a:off x="2248361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noGrp="1"/>
          </p:cNvSpPr>
          <p:nvPr/>
        </p:nvSpPr>
        <p:spPr>
          <a:xfrm>
            <a:off x="2451636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noGrp="1"/>
          </p:cNvSpPr>
          <p:nvPr/>
        </p:nvSpPr>
        <p:spPr>
          <a:xfrm>
            <a:off x="2394287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noGrp="1"/>
          </p:cNvSpPr>
          <p:nvPr/>
        </p:nvSpPr>
        <p:spPr>
          <a:xfrm>
            <a:off x="2385605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noGrp="1"/>
          </p:cNvSpPr>
          <p:nvPr/>
        </p:nvSpPr>
        <p:spPr>
          <a:xfrm>
            <a:off x="2519420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noGrp="1"/>
          </p:cNvSpPr>
          <p:nvPr/>
        </p:nvSpPr>
        <p:spPr>
          <a:xfrm>
            <a:off x="2385605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noGrp="1"/>
          </p:cNvSpPr>
          <p:nvPr/>
        </p:nvSpPr>
        <p:spPr>
          <a:xfrm>
            <a:off x="2463821" y="2067156"/>
            <a:ext cx="41808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noGrp="1"/>
          </p:cNvSpPr>
          <p:nvPr/>
        </p:nvSpPr>
        <p:spPr>
          <a:xfrm>
            <a:off x="2385605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9" cy="370429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9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ПУТЬ ОПЕРАТОРА</a:t>
            </a:r>
          </a:p>
        </p:txBody>
      </p:sp>
      <p:cxnSp>
        <p:nvCxnSpPr>
          <p:cNvPr id="156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noGrp="1"/>
          </p:cNvSpPr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noGrp="1"/>
          </p:cNvSpPr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noGrp="1"/>
          </p:cNvSpPr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BA58DA2A-B818-18A9-29C1-B697728D5BCE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sz="1800" b="1">
                <a:solidFill>
                  <a:srgbClr val="F92571"/>
                </a:solidFill>
              </a:rPr>
              <a:t>Вход: веб и шлюз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80565" y="3128740"/>
            <a:ext cx="2965633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React-интерфейс в браузере и REST / OpenAPI.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Валидация запросов и gRPC-маршрутизация к сервисам-владельцам.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sz="1800" b="1">
                <a:solidFill>
                  <a:srgbClr val="F92571"/>
                </a:solidFill>
              </a:rPr>
              <a:t>Модель: инференс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4623178" y="3128740"/>
            <a:ext cx="3034896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Кроп, RGB-препроцессинг и замороженный ONNX-энкодер.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Запросы обрабатываются без состояния, без адаптации между запросами.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В образе жюри обязателен GPU.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sz="1800" b="1">
                <a:solidFill>
                  <a:srgbClr val="F92571"/>
                </a:solidFill>
              </a:rPr>
              <a:t>Хранение и поиск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8547959" y="3128740"/>
            <a:ext cx="2945464" cy="2797928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>
                <a:solidFill>
                  <a:srgbClr val="111111"/>
                </a:solidFill>
              </a:rPr>
              <a:t>Gallery </a:t>
            </a:r>
            <a:r>
              <a:rPr sz="1350" b="0" dirty="0" err="1">
                <a:solidFill>
                  <a:srgbClr val="111111"/>
                </a:solidFill>
              </a:rPr>
              <a:t>владеет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снимками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метаданными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>
                <a:solidFill>
                  <a:srgbClr val="111111"/>
                </a:solidFill>
              </a:rPr>
              <a:t>Search </a:t>
            </a:r>
            <a:r>
              <a:rPr sz="1350" b="0" dirty="0" err="1">
                <a:solidFill>
                  <a:srgbClr val="111111"/>
                </a:solidFill>
              </a:rPr>
              <a:t>читает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эмбеддинги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хранит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историю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поиска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>
                <a:solidFill>
                  <a:srgbClr val="111111"/>
                </a:solidFill>
              </a:rPr>
              <a:t>PostgreSQL 16 + </a:t>
            </a:r>
            <a:r>
              <a:rPr sz="1350" b="0" dirty="0" err="1">
                <a:solidFill>
                  <a:srgbClr val="111111"/>
                </a:solidFill>
              </a:rPr>
              <a:t>pgvector</a:t>
            </a:r>
            <a:r>
              <a:rPr sz="1350" b="0" dirty="0">
                <a:solidFill>
                  <a:srgbClr val="111111"/>
                </a:solidFill>
              </a:rPr>
              <a:t> HNSW: </a:t>
            </a:r>
            <a:r>
              <a:rPr sz="1350" b="0" dirty="0" err="1">
                <a:solidFill>
                  <a:srgbClr val="111111"/>
                </a:solidFill>
              </a:rPr>
              <a:t>реляционное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векторное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хранилище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>
                <a:solidFill>
                  <a:srgbClr val="111111"/>
                </a:solidFill>
              </a:rPr>
              <a:t>Tagger</a:t>
            </a:r>
            <a:r>
              <a:rPr lang="ru-RU" sz="1350" b="0" dirty="0">
                <a:solidFill>
                  <a:srgbClr val="111111"/>
                </a:solidFill>
              </a:rPr>
              <a:t>,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необязательный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сервис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пояснений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chemeClr val="accent5"/>
                </a:solidFill>
              </a:rPr>
              <a:t>АРХИТЕКТУРА СЕРВИСА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sz="4400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sz="4400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sz="4400"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4572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88657AE-30A1-5A7A-6A7F-315D84436430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SEARCH (отбор): 92,005 %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r>
              <a:rPr sz="1100" dirty="0">
                <a:solidFill>
                  <a:schemeClr val="accent5"/>
                </a:solidFill>
              </a:rPr>
              <a:t>172 </a:t>
            </a:r>
            <a:r>
              <a:rPr sz="1100" dirty="0" err="1">
                <a:solidFill>
                  <a:schemeClr val="accent5"/>
                </a:solidFill>
              </a:rPr>
              <a:t>оцениваемых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запроса</a:t>
            </a:r>
            <a:r>
              <a:rPr sz="1100" dirty="0">
                <a:solidFill>
                  <a:schemeClr val="accent5"/>
                </a:solidFill>
              </a:rPr>
              <a:t>. </a:t>
            </a:r>
            <a:r>
              <a:rPr sz="1100" dirty="0" err="1">
                <a:solidFill>
                  <a:schemeClr val="accent5"/>
                </a:solidFill>
              </a:rPr>
              <a:t>Исходный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чекпойнт</a:t>
            </a:r>
            <a:r>
              <a:rPr sz="1100" dirty="0">
                <a:solidFill>
                  <a:schemeClr val="accent5"/>
                </a:solidFill>
              </a:rPr>
              <a:t> TT 91,956 % </a:t>
            </a:r>
            <a:r>
              <a:rPr sz="1100" dirty="0" err="1">
                <a:solidFill>
                  <a:schemeClr val="accent5"/>
                </a:solidFill>
              </a:rPr>
              <a:t>в</a:t>
            </a:r>
            <a:r>
              <a:rPr sz="1100" dirty="0">
                <a:solidFill>
                  <a:schemeClr val="accent5"/>
                </a:solidFill>
              </a:rPr>
              <a:t> BF16. </a:t>
            </a:r>
            <a:r>
              <a:rPr sz="1100" dirty="0" err="1">
                <a:solidFill>
                  <a:schemeClr val="accent5"/>
                </a:solidFill>
              </a:rPr>
              <a:t>Повторное</a:t>
            </a:r>
            <a:r>
              <a:rPr sz="1100" dirty="0">
                <a:solidFill>
                  <a:schemeClr val="accent5"/>
                </a:solidFill>
              </a:rPr>
              <a:t> 8-эпохное </a:t>
            </a:r>
            <a:r>
              <a:rPr sz="1100" dirty="0" err="1">
                <a:solidFill>
                  <a:schemeClr val="accent5"/>
                </a:solidFill>
              </a:rPr>
              <a:t>обучение</a:t>
            </a:r>
            <a:r>
              <a:rPr sz="1100" dirty="0">
                <a:solidFill>
                  <a:schemeClr val="accent5"/>
                </a:solidFill>
              </a:rPr>
              <a:t> FIT 91,213 %. SEARCH </a:t>
            </a:r>
            <a:r>
              <a:rPr lang="ru-RU" sz="1100" dirty="0">
                <a:solidFill>
                  <a:schemeClr val="accent5"/>
                </a:solidFill>
              </a:rPr>
              <a:t>-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данные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разработки</a:t>
            </a:r>
            <a:r>
              <a:rPr sz="1100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Финальный аудит: 87,003 %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r>
              <a:rPr sz="1100" dirty="0">
                <a:solidFill>
                  <a:schemeClr val="accent5"/>
                </a:solidFill>
              </a:rPr>
              <a:t>160 </a:t>
            </a:r>
            <a:r>
              <a:rPr sz="1100" dirty="0" err="1">
                <a:solidFill>
                  <a:schemeClr val="accent5"/>
                </a:solidFill>
              </a:rPr>
              <a:t>запросов</a:t>
            </a:r>
            <a:r>
              <a:rPr sz="1100" dirty="0">
                <a:solidFill>
                  <a:schemeClr val="accent5"/>
                </a:solidFill>
              </a:rPr>
              <a:t>; 95 % </a:t>
            </a:r>
            <a:r>
              <a:rPr sz="1100" dirty="0" err="1">
                <a:solidFill>
                  <a:schemeClr val="accent5"/>
                </a:solidFill>
              </a:rPr>
              <a:t>бутстрэп-интервал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по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машинам</a:t>
            </a:r>
            <a:r>
              <a:rPr sz="1100" dirty="0">
                <a:solidFill>
                  <a:schemeClr val="accent5"/>
                </a:solidFill>
              </a:rPr>
              <a:t> 82,32</a:t>
            </a:r>
            <a:r>
              <a:rPr lang="ru-RU" sz="1100" dirty="0">
                <a:solidFill>
                  <a:schemeClr val="accent5"/>
                </a:solidFill>
              </a:rPr>
              <a:t>-</a:t>
            </a:r>
            <a:r>
              <a:rPr sz="1100" dirty="0">
                <a:solidFill>
                  <a:schemeClr val="accent5"/>
                </a:solidFill>
              </a:rPr>
              <a:t>91,14 %. </a:t>
            </a:r>
            <a:r>
              <a:rPr sz="1100" dirty="0" err="1">
                <a:solidFill>
                  <a:schemeClr val="accent5"/>
                </a:solidFill>
              </a:rPr>
              <a:t>Этот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фолд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ранее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открывался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для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прошлой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модели</a:t>
            </a:r>
            <a:r>
              <a:rPr sz="1100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Калибровка: 83,000 %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r>
              <a:rPr sz="1100" dirty="0">
                <a:solidFill>
                  <a:schemeClr val="accent5"/>
                </a:solidFill>
              </a:rPr>
              <a:t>160 </a:t>
            </a:r>
            <a:r>
              <a:rPr sz="1100" dirty="0" err="1">
                <a:solidFill>
                  <a:schemeClr val="accent5"/>
                </a:solidFill>
              </a:rPr>
              <a:t>известных</a:t>
            </a:r>
            <a:r>
              <a:rPr sz="1100" dirty="0">
                <a:solidFill>
                  <a:schemeClr val="accent5"/>
                </a:solidFill>
              </a:rPr>
              <a:t> + 40 </a:t>
            </a:r>
            <a:r>
              <a:rPr sz="1100" dirty="0" err="1">
                <a:solidFill>
                  <a:schemeClr val="accent5"/>
                </a:solidFill>
              </a:rPr>
              <a:t>неизвестных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запросов</a:t>
            </a:r>
            <a:r>
              <a:rPr sz="1100" dirty="0">
                <a:solidFill>
                  <a:schemeClr val="accent5"/>
                </a:solidFill>
              </a:rPr>
              <a:t>. </a:t>
            </a:r>
            <a:r>
              <a:rPr sz="1100" dirty="0" err="1">
                <a:solidFill>
                  <a:schemeClr val="accent5"/>
                </a:solidFill>
              </a:rPr>
              <a:t>Модель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уже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выбрана</a:t>
            </a:r>
            <a:r>
              <a:rPr sz="1100" dirty="0">
                <a:solidFill>
                  <a:schemeClr val="accent5"/>
                </a:solidFill>
              </a:rPr>
              <a:t>; </a:t>
            </a:r>
            <a:r>
              <a:rPr sz="1100" dirty="0" err="1">
                <a:solidFill>
                  <a:schemeClr val="accent5"/>
                </a:solidFill>
              </a:rPr>
              <a:t>калибруются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только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пороги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отказа</a:t>
            </a:r>
            <a:r>
              <a:rPr sz="1100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КАЧЕСТВО ПОИСКА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381000" y="1695450"/>
          <a:ext cx="5810250" cy="379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4572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noGrp="1"/>
          </p:cNvSpPr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</a:rPr>
              <a:t>0,7·F1 + 0,3·TNR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</a:rPr>
              <a:t>Целевая функция отказа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111111"/>
              </a:solidFill>
            </a:endParaRP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</a:rPr>
              <a:t>Порог DBA: 0,720701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111111"/>
              </a:solidFill>
            </a:endParaRP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</a:rPr>
              <a:t>Калибровка: Q 0,9583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</a:rPr>
              <a:t>Аудит: Q 0,9365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111111"/>
              </a:solidFill>
            </a:endParaRP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11111"/>
                </a:solidFill>
              </a:rPr>
              <a:t>Финальная модель, Linux, CUDA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1200">
                <a:solidFill>
                  <a:schemeClr val="tx1"/>
                </a:solidFill>
              </a:rPr>
              <a:t>Принимаем топ-1, только если его оценка не ниже порога. Иначе запрос не попадает в файл кандидатов.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1200">
                <a:solidFill>
                  <a:schemeClr val="tx1"/>
                </a:solidFill>
              </a:rPr>
              <a:t>В калибровке 160 известных и 40 неизвестных запросов: доля «нет в галерее» 20 %.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1200">
                <a:solidFill>
                  <a:schemeClr val="tx1"/>
                </a:solidFill>
              </a:rPr>
              <a:t>Калибровка: TP 142, FP 0, FN 18, TN 40. F1 0,9404, TNR 1,0000.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1200" dirty="0" err="1">
                <a:solidFill>
                  <a:schemeClr val="tx1"/>
                </a:solidFill>
              </a:rPr>
              <a:t>Финальный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аудит</a:t>
            </a:r>
            <a:r>
              <a:rPr sz="1200" dirty="0">
                <a:solidFill>
                  <a:schemeClr val="tx1"/>
                </a:solidFill>
              </a:rPr>
              <a:t>: TP 141, FP 2, FN 19, TN 38. F1 0,9307, TNR 0,9500.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sz="1200" dirty="0" err="1">
                <a:solidFill>
                  <a:schemeClr val="tx1"/>
                </a:solidFill>
              </a:rPr>
              <a:t>Порог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живого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сервиса</a:t>
            </a:r>
            <a:r>
              <a:rPr sz="1200" dirty="0">
                <a:solidFill>
                  <a:schemeClr val="tx1"/>
                </a:solidFill>
              </a:rPr>
              <a:t> (</a:t>
            </a:r>
            <a:r>
              <a:rPr sz="1200" dirty="0" err="1">
                <a:solidFill>
                  <a:schemeClr val="tx1"/>
                </a:solidFill>
              </a:rPr>
              <a:t>чистый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косинус</a:t>
            </a:r>
            <a:r>
              <a:rPr sz="1200" dirty="0">
                <a:solidFill>
                  <a:schemeClr val="tx1"/>
                </a:solidFill>
              </a:rPr>
              <a:t>) </a:t>
            </a:r>
            <a:r>
              <a:rPr sz="1200" dirty="0" err="1">
                <a:solidFill>
                  <a:schemeClr val="tx1"/>
                </a:solidFill>
              </a:rPr>
              <a:t>отдельный</a:t>
            </a:r>
            <a:r>
              <a:rPr sz="1200" dirty="0">
                <a:solidFill>
                  <a:schemeClr val="tx1"/>
                </a:solidFill>
              </a:rPr>
              <a:t>: 0,695986. Q </a:t>
            </a:r>
            <a:r>
              <a:rPr sz="1200" dirty="0" err="1">
                <a:solidFill>
                  <a:schemeClr val="tx1"/>
                </a:solidFill>
              </a:rPr>
              <a:t>на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аудите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ниже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прошлой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модели</a:t>
            </a:r>
            <a:r>
              <a:rPr sz="1200" dirty="0">
                <a:solidFill>
                  <a:schemeClr val="tx1"/>
                </a:solidFill>
              </a:rPr>
              <a:t> (0,9581), </a:t>
            </a:r>
            <a:r>
              <a:rPr sz="1200" dirty="0" err="1">
                <a:solidFill>
                  <a:schemeClr val="tx1"/>
                </a:solidFill>
              </a:rPr>
              <a:t>mAP</a:t>
            </a:r>
            <a:r>
              <a:rPr sz="1200" dirty="0">
                <a:solidFill>
                  <a:schemeClr val="tx1"/>
                </a:solidFill>
              </a:rPr>
              <a:t> — </a:t>
            </a:r>
            <a:r>
              <a:rPr sz="1200" dirty="0" err="1">
                <a:solidFill>
                  <a:schemeClr val="tx1"/>
                </a:solidFill>
              </a:rPr>
              <a:t>выше</a:t>
            </a:r>
            <a:r>
              <a:rPr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DB7BEEEC-A170-5376-2B6E-CB54687B0CB1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КАЛИБРОВКА ОТКАЗА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>
            <a:spLocks noGrp="1"/>
          </p:cNvSpPr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>
            <a:spLocks noGrp="1"/>
          </p:cNvSpPr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>
            <a:spLocks noGrp="1"/>
          </p:cNvSpPr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0394428-F1DC-E5F6-DB0C-7DE31F3D8A23}" type="slidenum">
              <a:t>12</a:t>
            </a:fld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tx1"/>
                </a:solidFill>
              </a:rPr>
              <a:t>Что меряет жюри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r>
              <a:rPr sz="1100">
                <a:solidFill>
                  <a:schemeClr val="tx1"/>
                </a:solidFill>
              </a:rPr>
              <a:t>Полная задержка extract(): чтение файла, декодирование, кроп, препроцессинг, forward и L2-нормировка. Целевое железо: RTX A5000.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tx1"/>
                </a:solidFill>
              </a:rPr>
              <a:t>Пороги оценки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r>
              <a:rPr sz="1100" dirty="0" err="1">
                <a:solidFill>
                  <a:schemeClr val="tx1"/>
                </a:solidFill>
              </a:rPr>
              <a:t>Полный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балл</a:t>
            </a:r>
            <a:r>
              <a:rPr sz="1100" dirty="0">
                <a:solidFill>
                  <a:schemeClr val="tx1"/>
                </a:solidFill>
              </a:rPr>
              <a:t>: batch-1 </a:t>
            </a:r>
            <a:r>
              <a:rPr sz="1100" dirty="0" err="1">
                <a:solidFill>
                  <a:schemeClr val="tx1"/>
                </a:solidFill>
              </a:rPr>
              <a:t>не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дольше</a:t>
            </a:r>
            <a:r>
              <a:rPr sz="1100" dirty="0">
                <a:solidFill>
                  <a:schemeClr val="tx1"/>
                </a:solidFill>
              </a:rPr>
              <a:t> 40 </a:t>
            </a:r>
            <a:r>
              <a:rPr sz="1100" dirty="0" err="1">
                <a:solidFill>
                  <a:schemeClr val="tx1"/>
                </a:solidFill>
              </a:rPr>
              <a:t>мс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и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не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менее</a:t>
            </a:r>
            <a:r>
              <a:rPr sz="1100" dirty="0">
                <a:solidFill>
                  <a:schemeClr val="tx1"/>
                </a:solidFill>
              </a:rPr>
              <a:t> 100 FPS. </a:t>
            </a:r>
            <a:r>
              <a:rPr sz="1100" dirty="0" err="1">
                <a:solidFill>
                  <a:schemeClr val="tx1"/>
                </a:solidFill>
              </a:rPr>
              <a:t>Модель</a:t>
            </a:r>
            <a:r>
              <a:rPr sz="1100" dirty="0">
                <a:solidFill>
                  <a:schemeClr val="tx1"/>
                </a:solidFill>
              </a:rPr>
              <a:t> 607,3 МБ </a:t>
            </a:r>
            <a:r>
              <a:rPr sz="1100" dirty="0" err="1">
                <a:solidFill>
                  <a:schemeClr val="tx1"/>
                </a:solidFill>
              </a:rPr>
              <a:t>при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лимите</a:t>
            </a:r>
            <a:r>
              <a:rPr sz="1100" dirty="0">
                <a:solidFill>
                  <a:schemeClr val="tx1"/>
                </a:solidFill>
              </a:rPr>
              <a:t> 2 ГБ.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tx1"/>
                </a:solidFill>
              </a:rPr>
              <a:t>Локальные замеры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r>
              <a:rPr sz="1100" dirty="0">
                <a:solidFill>
                  <a:schemeClr val="tx1"/>
                </a:solidFill>
              </a:rPr>
              <a:t>RTX 3090: </a:t>
            </a:r>
            <a:r>
              <a:rPr sz="1100" dirty="0" err="1">
                <a:solidFill>
                  <a:schemeClr val="tx1"/>
                </a:solidFill>
              </a:rPr>
              <a:t>нативный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путь</a:t>
            </a:r>
            <a:r>
              <a:rPr sz="1100" dirty="0">
                <a:solidFill>
                  <a:schemeClr val="tx1"/>
                </a:solidFill>
              </a:rPr>
              <a:t> 22,42–24,58 </a:t>
            </a:r>
            <a:r>
              <a:rPr sz="1100" dirty="0" err="1">
                <a:solidFill>
                  <a:schemeClr val="tx1"/>
                </a:solidFill>
              </a:rPr>
              <a:t>мс</a:t>
            </a:r>
            <a:r>
              <a:rPr sz="1100" dirty="0">
                <a:solidFill>
                  <a:schemeClr val="tx1"/>
                </a:solidFill>
              </a:rPr>
              <a:t> (</a:t>
            </a:r>
            <a:r>
              <a:rPr sz="1100" dirty="0" err="1">
                <a:solidFill>
                  <a:schemeClr val="tx1"/>
                </a:solidFill>
              </a:rPr>
              <a:t>медиана</a:t>
            </a:r>
            <a:r>
              <a:rPr sz="1100" dirty="0">
                <a:solidFill>
                  <a:schemeClr val="tx1"/>
                </a:solidFill>
              </a:rPr>
              <a:t>) / 181,5–185,9 FPS; Python 24,99–27,65 </a:t>
            </a:r>
            <a:r>
              <a:rPr sz="1100" dirty="0" err="1">
                <a:solidFill>
                  <a:schemeClr val="tx1"/>
                </a:solidFill>
              </a:rPr>
              <a:t>мс</a:t>
            </a:r>
            <a:r>
              <a:rPr sz="1100" dirty="0">
                <a:solidFill>
                  <a:schemeClr val="tx1"/>
                </a:solidFill>
              </a:rPr>
              <a:t> / 110,5–119,0 FPS. </a:t>
            </a:r>
            <a:r>
              <a:rPr sz="1100" dirty="0" err="1">
                <a:solidFill>
                  <a:schemeClr val="tx1"/>
                </a:solidFill>
              </a:rPr>
              <a:t>Повторные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выходы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совпадают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побайтно</a:t>
            </a:r>
            <a:r>
              <a:rPr sz="1100" dirty="0">
                <a:solidFill>
                  <a:schemeClr val="tx1"/>
                </a:solidFill>
              </a:rPr>
              <a:t>. PTX JIT </a:t>
            </a:r>
            <a:r>
              <a:rPr sz="1100" dirty="0" err="1">
                <a:solidFill>
                  <a:schemeClr val="tx1"/>
                </a:solidFill>
              </a:rPr>
              <a:t>выключен</a:t>
            </a:r>
            <a:r>
              <a:rPr sz="1100" dirty="0">
                <a:solidFill>
                  <a:schemeClr val="tx1"/>
                </a:solidFill>
              </a:rPr>
              <a:t>. A5000 / </a:t>
            </a:r>
            <a:r>
              <a:rPr sz="1100" dirty="0" err="1">
                <a:solidFill>
                  <a:schemeClr val="tx1"/>
                </a:solidFill>
              </a:rPr>
              <a:t>драйвер</a:t>
            </a:r>
            <a:r>
              <a:rPr sz="1100" dirty="0">
                <a:solidFill>
                  <a:schemeClr val="tx1"/>
                </a:solidFill>
              </a:rPr>
              <a:t> 535 </a:t>
            </a:r>
            <a:r>
              <a:rPr sz="1100" dirty="0" err="1">
                <a:solidFill>
                  <a:schemeClr val="tx1"/>
                </a:solidFill>
              </a:rPr>
              <a:t>не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проверены</a:t>
            </a:r>
            <a:r>
              <a:rPr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t>СКОРОСТЬ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00050" y="1714500"/>
          <a:ext cx="56197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4DB16885-0D3F-A391-B669-3211DB3B26E8}" type="slidenum">
              <a:rPr>
                <a:solidFill>
                  <a:schemeClr val="accent6"/>
                </a:solidFill>
              </a:rPr>
              <a:t>13</a:t>
            </a:fld>
            <a:endParaRPr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6"/>
                </a:solidFill>
              </a:rPr>
              <a:t>Перед против зада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r>
              <a:rPr sz="1100" dirty="0">
                <a:solidFill>
                  <a:schemeClr val="accent6"/>
                </a:solidFill>
              </a:rPr>
              <a:t>SEARCH, </a:t>
            </a:r>
            <a:r>
              <a:rPr sz="1100" dirty="0" err="1">
                <a:solidFill>
                  <a:schemeClr val="accent6"/>
                </a:solidFill>
              </a:rPr>
              <a:t>машина</a:t>
            </a:r>
            <a:r>
              <a:rPr sz="1100" dirty="0">
                <a:solidFill>
                  <a:schemeClr val="accent6"/>
                </a:solidFill>
              </a:rPr>
              <a:t> 1258: </a:t>
            </a:r>
            <a:r>
              <a:rPr sz="1100" dirty="0" err="1">
                <a:solidFill>
                  <a:schemeClr val="accent6"/>
                </a:solidFill>
              </a:rPr>
              <a:t>после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удаления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кадров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той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же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камеры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первый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верный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вид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спереди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на</a:t>
            </a:r>
            <a:r>
              <a:rPr sz="1100" dirty="0">
                <a:solidFill>
                  <a:schemeClr val="accent6"/>
                </a:solidFill>
              </a:rPr>
              <a:t> 9-м </a:t>
            </a:r>
            <a:r>
              <a:rPr sz="1100" dirty="0" err="1">
                <a:solidFill>
                  <a:schemeClr val="accent6"/>
                </a:solidFill>
              </a:rPr>
              <a:t>месте</a:t>
            </a:r>
            <a:r>
              <a:rPr sz="1100" dirty="0">
                <a:solidFill>
                  <a:schemeClr val="accent6"/>
                </a:solidFill>
              </a:rPr>
              <a:t>; </a:t>
            </a:r>
            <a:r>
              <a:rPr sz="1100" dirty="0" err="1">
                <a:solidFill>
                  <a:schemeClr val="accent6"/>
                </a:solidFill>
              </a:rPr>
              <a:t>в</a:t>
            </a:r>
            <a:r>
              <a:rPr sz="1100" dirty="0">
                <a:solidFill>
                  <a:schemeClr val="accent6"/>
                </a:solidFill>
              </a:rPr>
              <a:t> топ-10 </a:t>
            </a:r>
            <a:r>
              <a:rPr sz="1100" dirty="0" err="1">
                <a:solidFill>
                  <a:schemeClr val="accent6"/>
                </a:solidFill>
              </a:rPr>
              <a:t>попал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один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из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двух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верных</a:t>
            </a:r>
            <a:r>
              <a:rPr sz="1100" dirty="0">
                <a:solidFill>
                  <a:schemeClr val="accent6"/>
                </a:solidFill>
              </a:rPr>
              <a:t> </a:t>
            </a:r>
            <a:r>
              <a:rPr sz="1100" dirty="0" err="1">
                <a:solidFill>
                  <a:schemeClr val="accent6"/>
                </a:solidFill>
              </a:rPr>
              <a:t>видов</a:t>
            </a:r>
            <a:r>
              <a:rPr sz="1100" dirty="0">
                <a:solidFill>
                  <a:schemeClr val="accent6"/>
                </a:solidFill>
              </a:rPr>
              <a:t>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Почти одинаковые машины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r>
              <a:rPr sz="1100" dirty="0" err="1">
                <a:solidFill>
                  <a:schemeClr val="accent5"/>
                </a:solidFill>
              </a:rPr>
              <a:t>Похожий</a:t>
            </a:r>
            <a:r>
              <a:rPr sz="1100" dirty="0">
                <a:solidFill>
                  <a:schemeClr val="accent5"/>
                </a:solidFill>
              </a:rPr>
              <a:t> G-</a:t>
            </a:r>
            <a:r>
              <a:rPr sz="1100" dirty="0" err="1">
                <a:solidFill>
                  <a:schemeClr val="accent5"/>
                </a:solidFill>
              </a:rPr>
              <a:t>класс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сзади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lang="ru-RU" sz="1100" dirty="0">
                <a:solidFill>
                  <a:schemeClr val="accent5"/>
                </a:solidFill>
              </a:rPr>
              <a:t>-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размеченный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пример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разработки</a:t>
            </a:r>
            <a:r>
              <a:rPr sz="1100" dirty="0">
                <a:solidFill>
                  <a:schemeClr val="accent5"/>
                </a:solidFill>
              </a:rPr>
              <a:t>. </a:t>
            </a:r>
            <a:r>
              <a:rPr sz="1100" dirty="0" err="1">
                <a:solidFill>
                  <a:schemeClr val="accent5"/>
                </a:solidFill>
              </a:rPr>
              <a:t>Высокое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сходство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внешнего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вида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ещё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не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означает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ту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же</a:t>
            </a:r>
            <a:r>
              <a:rPr sz="1100" dirty="0">
                <a:solidFill>
                  <a:schemeClr val="accent5"/>
                </a:solidFill>
              </a:rPr>
              <a:t> </a:t>
            </a:r>
            <a:r>
              <a:rPr sz="1100" dirty="0" err="1">
                <a:solidFill>
                  <a:schemeClr val="accent5"/>
                </a:solidFill>
              </a:rPr>
              <a:t>машину</a:t>
            </a:r>
            <a:r>
              <a:rPr sz="1100" dirty="0">
                <a:solidFill>
                  <a:schemeClr val="accent5"/>
                </a:solidFill>
              </a:rPr>
              <a:t>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6"/>
                </a:solidFill>
              </a:rPr>
              <a:t>Перекрытия и освещение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r>
              <a:rPr sz="1100">
                <a:solidFill>
                  <a:schemeClr val="accent6"/>
                </a:solidFill>
              </a:rPr>
              <a:t>Разбор также выявил смешанные рамки, частично видимые машины и пары «ночь/день». Разметку не меняли.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Контроль маскирования номера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r>
              <a:rPr sz="1100">
                <a:solidFill>
                  <a:schemeClr val="accent5"/>
                </a:solidFill>
              </a:rPr>
              <a:t>SEARCH mAP: 92,005 % исходно, 91,292 % с зачернённой зоной номера, 91,802 % со случайными масками той же площади. Это не точный тест масок жюри.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АНАЛИЗ ОШИБОК</a:t>
            </a:r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728788"/>
            <a:ext cx="5905500" cy="1476375"/>
          </a:xfrm>
          <a:prstGeom prst="rect">
            <a:avLst/>
          </a:prstGeom>
        </p:spPr>
      </p:pic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62175" y="3822214"/>
            <a:ext cx="2076450" cy="2052021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01A2F86-1E35-403B-8AFA-81A8A0F5976F}"/>
              </a:ext>
            </a:extLst>
          </p:cNvPr>
          <p:cNvSpPr>
            <a:spLocks noGrp="1"/>
          </p:cNvSpPr>
          <p:nvPr/>
        </p:nvSpPr>
        <p:spPr>
          <a:xfrm>
            <a:off x="504825" y="1323975"/>
            <a:ext cx="5524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510C76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10C76"/>
                </a:solidFill>
                <a:latin typeface="Calibri"/>
                <a:ea typeface="Calibri"/>
                <a:cs typeface="Calibri"/>
              </a:rPr>
              <a:t>Запрос и верные виды спереди (зелёные рамки)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95FDDA3-E4B3-41D9-A7F7-83E3D324FFE4}"/>
              </a:ext>
            </a:extLst>
          </p:cNvPr>
          <p:cNvSpPr>
            <a:spLocks noGrp="1"/>
          </p:cNvSpPr>
          <p:nvPr/>
        </p:nvSpPr>
        <p:spPr>
          <a:xfrm>
            <a:off x="1400175" y="34766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510C76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10C76"/>
                </a:solidFill>
                <a:latin typeface="Calibri"/>
                <a:ea typeface="Calibri"/>
                <a:cs typeface="Calibri"/>
              </a:rPr>
              <a:t>Чужая машина, похожий вид сзади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FB3F74B-152D-4E16-9813-28B20171B7C8}"/>
              </a:ext>
            </a:extLst>
          </p:cNvPr>
          <p:cNvSpPr>
            <a:spLocks noGrp="1"/>
          </p:cNvSpPr>
          <p:nvPr/>
        </p:nvSpPr>
        <p:spPr>
          <a:xfrm>
            <a:off x="409575" y="60198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510C76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510C76"/>
                </a:solidFill>
                <a:latin typeface="Calibri"/>
                <a:ea typeface="Calibri"/>
                <a:cs typeface="Calibri"/>
              </a:rPr>
              <a:t>Только пример разработки. У публичного теста нет разметки.</a:t>
            </a: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4572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DD23107-4986-8758-3A93-3D74F35908CC}" type="slidenum">
              <a:rPr>
                <a:solidFill>
                  <a:schemeClr val="accent5"/>
                </a:solidFill>
              </a:rPr>
              <a:t>14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Приём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sz="1000">
                <a:solidFill>
                  <a:schemeClr val="tx1"/>
                </a:solidFill>
              </a:rPr>
              <a:t>План: очередь событий и асинхронные воркеры сглаживают пики от множества камер, с повторами и ограниченным бэклогом.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Инференс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sz="1000">
                <a:solidFill>
                  <a:schemeClr val="tx1"/>
                </a:solidFill>
              </a:rPr>
              <a:t>План: несколько GPU-реплик и динамический батчинг с мониторингом задержки и загрузки.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Векторный индекс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sz="1000">
                <a:solidFill>
                  <a:schemeClr val="tx1"/>
                </a:solidFill>
              </a:rPr>
              <a:t>Проведённый синтетический тест на 1 млн векторов: HNSW p50 33 мс, p95 60 мс, recall@10 0,79. Перепроверить на 1 024 измерениях.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Хранение снимков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sz="1000" dirty="0" err="1">
                <a:solidFill>
                  <a:schemeClr val="tx1"/>
                </a:solidFill>
              </a:rPr>
              <a:t>План</a:t>
            </a:r>
            <a:r>
              <a:rPr sz="1000" dirty="0">
                <a:solidFill>
                  <a:schemeClr val="tx1"/>
                </a:solidFill>
              </a:rPr>
              <a:t>: </a:t>
            </a:r>
            <a:r>
              <a:rPr sz="1000" dirty="0" err="1">
                <a:solidFill>
                  <a:schemeClr val="tx1"/>
                </a:solidFill>
              </a:rPr>
              <a:t>объектное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хранилище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с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политиками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хранения</a:t>
            </a:r>
            <a:r>
              <a:rPr sz="1000" dirty="0">
                <a:solidFill>
                  <a:schemeClr val="tx1"/>
                </a:solidFill>
              </a:rPr>
              <a:t>. PostgreSQL</a:t>
            </a:r>
            <a:r>
              <a:rPr lang="ru-RU" sz="1000" dirty="0">
                <a:solidFill>
                  <a:schemeClr val="tx1"/>
                </a:solidFill>
              </a:rPr>
              <a:t>: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события</a:t>
            </a:r>
            <a:r>
              <a:rPr sz="1000" dirty="0">
                <a:solidFill>
                  <a:schemeClr val="tx1"/>
                </a:solidFill>
              </a:rPr>
              <a:t>, </a:t>
            </a:r>
            <a:r>
              <a:rPr sz="1000" dirty="0" err="1">
                <a:solidFill>
                  <a:schemeClr val="tx1"/>
                </a:solidFill>
              </a:rPr>
              <a:t>идентичности</a:t>
            </a:r>
            <a:r>
              <a:rPr sz="1000" dirty="0">
                <a:solidFill>
                  <a:schemeClr val="tx1"/>
                </a:solidFill>
              </a:rPr>
              <a:t>, </a:t>
            </a:r>
            <a:r>
              <a:rPr sz="1000" dirty="0" err="1">
                <a:solidFill>
                  <a:schemeClr val="tx1"/>
                </a:solidFill>
              </a:rPr>
              <a:t>права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и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журнал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аудита</a:t>
            </a:r>
            <a:r>
              <a:rPr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buNone/>
            </a:pPr>
            <a:r>
              <a:rPr b="1">
                <a:solidFill>
                  <a:schemeClr val="accent5"/>
                </a:solidFill>
              </a:rPr>
              <a:t>Обновление модели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sz="1000">
                <a:solidFill>
                  <a:schemeClr val="tx1"/>
                </a:solidFill>
              </a:rPr>
              <a:t>План: версии моделей, проверенная обратная связь операторов, отдельные данные для перекалибровки и откат после проверки дрейфа.</a:t>
            </a:r>
          </a:p>
        </p:txBody>
      </p:sp>
      <p:sp>
        <p:nv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C71751B7-0157-4CEB-BAD0-FA234BDA3577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3F34EB2A-02F1-477E-B4CA-BA98366D0124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E5805CA3-42CD-43B4-BDD1-1E9DB996644B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B0EE7C6B-826E-47B2-9A71-D0FF4104649D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1EEE4E8-E2CB-40B6-B2B9-FF0726EFDBA7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EB56A943-1C3F-42B4-8517-13394CFBFED8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2196F4B4-B8A5-4F10-ACB3-A677C61EFF47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DCF971F1-3CE8-417A-8599-C09FC6528DC4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F9FC7B3-EA11-4254-A115-B24570229FC9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noGrp="1"/>
          </p:cNvSpPr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noGrp="1"/>
          </p:cNvSpPr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ПЛАН МАСШТАБИРОВАНИЯ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noGrp="1"/>
          </p:cNvSpPr>
          <p:nvPr/>
        </p:nvSpPr>
        <p:spPr>
          <a:xfrm>
            <a:off x="1150498" y="1149443"/>
            <a:ext cx="5235830" cy="3688028"/>
          </a:xfrm>
          <a:prstGeom prst="roundRect">
            <a:avLst>
              <a:gd name="adj" fmla="val 1292"/>
            </a:avLst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noGrp="1"/>
          </p:cNvSpPr>
          <p:nvPr/>
        </p:nvSpPr>
        <p:spPr>
          <a:xfrm>
            <a:off x="1149124" y="1358784"/>
            <a:ext cx="4266587" cy="19982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noGrp="1"/>
          </p:cNvSpPr>
          <p:nvPr/>
        </p:nvSpPr>
        <p:spPr>
          <a:xfrm>
            <a:off x="1782205" y="1203365"/>
            <a:ext cx="1706634" cy="355244"/>
          </a:xfrm>
          <a:prstGeom prst="roundRect">
            <a:avLst>
              <a:gd name="adj" fmla="val 11986"/>
            </a:avLst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noGrp="1"/>
          </p:cNvSpPr>
          <p:nvPr/>
        </p:nvSpPr>
        <p:spPr>
          <a:xfrm>
            <a:off x="1218574" y="1225567"/>
            <a:ext cx="60220" cy="60265"/>
          </a:xfrm>
          <a:prstGeom prst="ellipse">
            <a:avLst/>
          </a:prstGeom>
          <a:solidFill>
            <a:schemeClr val="accent2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noGrp="1"/>
          </p:cNvSpPr>
          <p:nvPr/>
        </p:nvSpPr>
        <p:spPr>
          <a:xfrm>
            <a:off x="1325239" y="1225567"/>
            <a:ext cx="60220" cy="60265"/>
          </a:xfrm>
          <a:prstGeom prst="ellipse">
            <a:avLst/>
          </a:prstGeom>
          <a:solidFill>
            <a:schemeClr val="accent3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noGrp="1"/>
          </p:cNvSpPr>
          <p:nvPr/>
        </p:nvSpPr>
        <p:spPr>
          <a:xfrm>
            <a:off x="1431903" y="1225567"/>
            <a:ext cx="60220" cy="60265"/>
          </a:xfrm>
          <a:prstGeom prst="ellipse">
            <a:avLst/>
          </a:prstGeom>
          <a:solidFill>
            <a:schemeClr val="accent4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noGrp="1"/>
          </p:cNvSpPr>
          <p:nvPr/>
        </p:nvSpPr>
        <p:spPr>
          <a:xfrm>
            <a:off x="1889263" y="1396846"/>
            <a:ext cx="3205451" cy="126873"/>
          </a:xfrm>
          <a:prstGeom prst="rect">
            <a:avLst/>
          </a:prstGeom>
          <a:solidFill>
            <a:srgbClr val="FFFFFF"/>
          </a:solidFill>
          <a:ln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noGrp="1"/>
          </p:cNvSpPr>
          <p:nvPr/>
        </p:nvSpPr>
        <p:spPr>
          <a:xfrm>
            <a:off x="5210105" y="1203365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noGrp="1"/>
          </p:cNvSpPr>
          <p:nvPr/>
        </p:nvSpPr>
        <p:spPr>
          <a:xfrm>
            <a:off x="5210105" y="1240208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noGrp="1"/>
          </p:cNvSpPr>
          <p:nvPr/>
        </p:nvSpPr>
        <p:spPr>
          <a:xfrm>
            <a:off x="5210105" y="1276945"/>
            <a:ext cx="24455" cy="24634"/>
          </a:xfrm>
          <a:custGeom>
            <a:avLst/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ahLst/>
            <a:cxnLst/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noGrp="1"/>
          </p:cNvSpPr>
          <p:nvPr/>
        </p:nvSpPr>
        <p:spPr>
          <a:xfrm>
            <a:off x="5246734" y="1203365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noGrp="1"/>
          </p:cNvSpPr>
          <p:nvPr/>
        </p:nvSpPr>
        <p:spPr>
          <a:xfrm>
            <a:off x="5246734" y="1240208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noGrp="1"/>
          </p:cNvSpPr>
          <p:nvPr/>
        </p:nvSpPr>
        <p:spPr>
          <a:xfrm>
            <a:off x="5246734" y="1276945"/>
            <a:ext cx="24294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noGrp="1"/>
          </p:cNvSpPr>
          <p:nvPr/>
        </p:nvSpPr>
        <p:spPr>
          <a:xfrm>
            <a:off x="5283310" y="1203365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noGrp="1"/>
          </p:cNvSpPr>
          <p:nvPr/>
        </p:nvSpPr>
        <p:spPr>
          <a:xfrm>
            <a:off x="5283310" y="1240208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noGrp="1"/>
          </p:cNvSpPr>
          <p:nvPr/>
        </p:nvSpPr>
        <p:spPr>
          <a:xfrm>
            <a:off x="5283310" y="1276945"/>
            <a:ext cx="24348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noGrp="1"/>
          </p:cNvSpPr>
          <p:nvPr/>
        </p:nvSpPr>
        <p:spPr>
          <a:xfrm rot="5400000">
            <a:off x="5211808" y="1416310"/>
            <a:ext cx="92256" cy="81375"/>
          </a:xfrm>
          <a:custGeom>
            <a:avLst/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ahLst/>
            <a:cxnLst/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noGrp="1"/>
          </p:cNvSpPr>
          <p:nvPr/>
        </p:nvSpPr>
        <p:spPr>
          <a:xfrm>
            <a:off x="1543769" y="1225567"/>
            <a:ext cx="60220" cy="60265"/>
          </a:xfrm>
          <a:prstGeom prst="ellipse">
            <a:avLst/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noGrp="1"/>
          </p:cNvSpPr>
          <p:nvPr/>
        </p:nvSpPr>
        <p:spPr>
          <a:xfrm>
            <a:off x="2005596" y="1340551"/>
            <a:ext cx="2067052" cy="2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lct.znatalk.ai</a:t>
            </a:r>
          </a:p>
        </p:txBody>
      </p:sp>
      <p:sp>
        <p:nvSpPr>
          <p:cNvPr id="11" name="Freeform 29">
            <a:extLst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noGrp="1"/>
          </p:cNvSpPr>
          <p:nvPr/>
        </p:nvSpPr>
        <p:spPr>
          <a:xfrm>
            <a:off x="1929513" y="1425286"/>
            <a:ext cx="72445" cy="73024"/>
          </a:xfrm>
          <a:custGeom>
            <a:avLst/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ahLst/>
            <a:cxnLst/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noGrp="1"/>
          </p:cNvSpPr>
          <p:nvPr/>
        </p:nvSpPr>
        <p:spPr>
          <a:xfrm>
            <a:off x="6545122" y="1149443"/>
            <a:ext cx="5177230" cy="3688028"/>
          </a:xfrm>
          <a:prstGeom prst="roundRect">
            <a:avLst>
              <a:gd name="adj" fmla="val 1292"/>
            </a:avLst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noGrp="1"/>
          </p:cNvSpPr>
          <p:nvPr/>
        </p:nvSpPr>
        <p:spPr>
          <a:xfrm>
            <a:off x="6552151" y="1358784"/>
            <a:ext cx="4266587" cy="19982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noGrp="1"/>
          </p:cNvSpPr>
          <p:nvPr/>
        </p:nvSpPr>
        <p:spPr>
          <a:xfrm>
            <a:off x="7185232" y="1203365"/>
            <a:ext cx="1706634" cy="355244"/>
          </a:xfrm>
          <a:prstGeom prst="roundRect">
            <a:avLst>
              <a:gd name="adj" fmla="val 11986"/>
            </a:avLst>
          </a:prstGeom>
          <a:solidFill>
            <a:schemeClr val="accent6">
              <a:lumMod val="50000"/>
            </a:schemeClr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noGrp="1"/>
          </p:cNvSpPr>
          <p:nvPr/>
        </p:nvSpPr>
        <p:spPr>
          <a:xfrm>
            <a:off x="6621601" y="1225567"/>
            <a:ext cx="60220" cy="60265"/>
          </a:xfrm>
          <a:prstGeom prst="ellipse">
            <a:avLst/>
          </a:prstGeom>
          <a:solidFill>
            <a:schemeClr val="accent2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noGrp="1"/>
          </p:cNvSpPr>
          <p:nvPr/>
        </p:nvSpPr>
        <p:spPr>
          <a:xfrm>
            <a:off x="6728266" y="1225567"/>
            <a:ext cx="60220" cy="60265"/>
          </a:xfrm>
          <a:prstGeom prst="ellipse">
            <a:avLst/>
          </a:prstGeom>
          <a:solidFill>
            <a:schemeClr val="accent3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noGrp="1"/>
          </p:cNvSpPr>
          <p:nvPr/>
        </p:nvSpPr>
        <p:spPr>
          <a:xfrm>
            <a:off x="6834930" y="1225567"/>
            <a:ext cx="60220" cy="60265"/>
          </a:xfrm>
          <a:prstGeom prst="ellipse">
            <a:avLst/>
          </a:prstGeom>
          <a:solidFill>
            <a:schemeClr val="accent4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noGrp="1"/>
          </p:cNvSpPr>
          <p:nvPr/>
        </p:nvSpPr>
        <p:spPr>
          <a:xfrm>
            <a:off x="7292290" y="1396846"/>
            <a:ext cx="3205451" cy="126873"/>
          </a:xfrm>
          <a:prstGeom prst="rect">
            <a:avLst/>
          </a:prstGeom>
          <a:solidFill>
            <a:srgbClr val="FFFFFF"/>
          </a:solidFill>
          <a:ln w="25400">
            <a:solidFill>
              <a:srgbClr val="B3B3B3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noGrp="1"/>
          </p:cNvSpPr>
          <p:nvPr/>
        </p:nvSpPr>
        <p:spPr>
          <a:xfrm>
            <a:off x="10613132" y="1203365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noGrp="1"/>
          </p:cNvSpPr>
          <p:nvPr/>
        </p:nvSpPr>
        <p:spPr>
          <a:xfrm>
            <a:off x="10613132" y="1240208"/>
            <a:ext cx="24455" cy="24472"/>
          </a:xfrm>
          <a:custGeom>
            <a:avLst/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ahLst/>
            <a:cxnLst/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noGrp="1"/>
          </p:cNvSpPr>
          <p:nvPr/>
        </p:nvSpPr>
        <p:spPr>
          <a:xfrm>
            <a:off x="10613132" y="1276945"/>
            <a:ext cx="24455" cy="24634"/>
          </a:xfrm>
          <a:custGeom>
            <a:avLst/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ahLst/>
            <a:cxnLst/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noGrp="1"/>
          </p:cNvSpPr>
          <p:nvPr/>
        </p:nvSpPr>
        <p:spPr>
          <a:xfrm>
            <a:off x="10649761" y="1203365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noGrp="1"/>
          </p:cNvSpPr>
          <p:nvPr/>
        </p:nvSpPr>
        <p:spPr>
          <a:xfrm>
            <a:off x="10649761" y="1240208"/>
            <a:ext cx="24294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noGrp="1"/>
          </p:cNvSpPr>
          <p:nvPr/>
        </p:nvSpPr>
        <p:spPr>
          <a:xfrm>
            <a:off x="10649761" y="1276945"/>
            <a:ext cx="24294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noGrp="1"/>
          </p:cNvSpPr>
          <p:nvPr/>
        </p:nvSpPr>
        <p:spPr>
          <a:xfrm>
            <a:off x="10686337" y="1203365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noGrp="1"/>
          </p:cNvSpPr>
          <p:nvPr/>
        </p:nvSpPr>
        <p:spPr>
          <a:xfrm>
            <a:off x="10686337" y="1240208"/>
            <a:ext cx="24348" cy="24472"/>
          </a:xfrm>
          <a:custGeom>
            <a:avLst/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ahLst/>
            <a:cxnLst/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noGrp="1"/>
          </p:cNvSpPr>
          <p:nvPr/>
        </p:nvSpPr>
        <p:spPr>
          <a:xfrm>
            <a:off x="10686337" y="1276945"/>
            <a:ext cx="24348" cy="24634"/>
          </a:xfrm>
          <a:custGeom>
            <a:avLst/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ahLst/>
            <a:cxnLst/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noGrp="1"/>
          </p:cNvSpPr>
          <p:nvPr/>
        </p:nvSpPr>
        <p:spPr>
          <a:xfrm rot="5400000">
            <a:off x="10614835" y="1416310"/>
            <a:ext cx="92256" cy="81375"/>
          </a:xfrm>
          <a:custGeom>
            <a:avLst/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ahLst/>
            <a:cxnLst/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noGrp="1"/>
          </p:cNvSpPr>
          <p:nvPr/>
        </p:nvSpPr>
        <p:spPr>
          <a:xfrm>
            <a:off x="6946796" y="1225567"/>
            <a:ext cx="60220" cy="60265"/>
          </a:xfrm>
          <a:prstGeom prst="ellipse">
            <a:avLst/>
          </a:prstGeom>
          <a:solidFill>
            <a:schemeClr val="accent5"/>
          </a:solidFill>
          <a:ln w="25400">
            <a:noFill/>
            <a:prstDash val="solid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noGrp="1"/>
          </p:cNvSpPr>
          <p:nvPr/>
        </p:nvSpPr>
        <p:spPr>
          <a:xfrm>
            <a:off x="7408623" y="1340551"/>
            <a:ext cx="2067052" cy="2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tx1"/>
                </a:solidFill>
                <a:latin typeface="Poppins Light"/>
                <a:ea typeface="Poppins Light"/>
                <a:cs typeface="Poppins Light"/>
              </a:rPr>
              <a:t>lct.znatalk.ai</a:t>
            </a:r>
          </a:p>
        </p:txBody>
      </p:sp>
      <p:sp>
        <p:nvSpPr>
          <p:cNvPr id="34" name="Freeform 29">
            <a:extLst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noGrp="1"/>
          </p:cNvSpPr>
          <p:nvPr/>
        </p:nvSpPr>
        <p:spPr>
          <a:xfrm>
            <a:off x="7332540" y="1425286"/>
            <a:ext cx="72445" cy="73024"/>
          </a:xfrm>
          <a:custGeom>
            <a:avLst/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ahLst/>
            <a:cxnLst/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27921A4-25C4-3DB4-06B1-32693CEE2241}" type="slidenum">
              <a:rPr>
                <a:solidFill>
                  <a:schemeClr val="accent5"/>
                </a:solidFill>
              </a:rPr>
              <a:t>15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5073666"/>
            <a:ext cx="4121687" cy="1612262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11111"/>
                </a:solidFill>
              </a:rPr>
              <a:t>Интерфейс поиска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11111"/>
                </a:solidFill>
              </a:rPr>
              <a:t>Скриншот прототипа: выбор машины на кадре, список кандидатов, отказ и экспорт CSV. Стенд: https://lct.znatalk.ai.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5073666"/>
            <a:ext cx="4121687" cy="1612262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dirty="0" err="1">
                <a:solidFill>
                  <a:srgbClr val="111111"/>
                </a:solidFill>
              </a:rPr>
              <a:t>Сравнение</a:t>
            </a:r>
            <a:r>
              <a:rPr sz="1650" b="1" dirty="0">
                <a:solidFill>
                  <a:srgbClr val="111111"/>
                </a:solidFill>
              </a:rPr>
              <a:t> </a:t>
            </a:r>
            <a:r>
              <a:rPr sz="1650" b="1" dirty="0" err="1">
                <a:solidFill>
                  <a:srgbClr val="111111"/>
                </a:solidFill>
              </a:rPr>
              <a:t>деталей</a:t>
            </a:r>
            <a:endParaRPr sz="1650" b="1" dirty="0">
              <a:solidFill>
                <a:srgbClr val="111111"/>
              </a:solidFill>
            </a:endParaRP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Скриншот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прототипа</a:t>
            </a:r>
            <a:r>
              <a:rPr sz="1350" b="0" dirty="0">
                <a:solidFill>
                  <a:srgbClr val="111111"/>
                </a:solidFill>
              </a:rPr>
              <a:t>: </a:t>
            </a:r>
            <a:r>
              <a:rPr sz="1350" b="0" dirty="0" err="1">
                <a:solidFill>
                  <a:srgbClr val="111111"/>
                </a:solidFill>
              </a:rPr>
              <a:t>визуальные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области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помогают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оператору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сверить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кандидата</a:t>
            </a:r>
            <a:r>
              <a:rPr sz="1350" b="0" dirty="0">
                <a:solidFill>
                  <a:srgbClr val="111111"/>
                </a:solidFill>
              </a:rPr>
              <a:t>. </a:t>
            </a:r>
            <a:r>
              <a:rPr sz="1350" b="0" dirty="0" err="1">
                <a:solidFill>
                  <a:srgbClr val="111111"/>
                </a:solidFill>
              </a:rPr>
              <a:t>OpenAPI</a:t>
            </a:r>
            <a:r>
              <a:rPr sz="1350" b="0" dirty="0">
                <a:solidFill>
                  <a:srgbClr val="111111"/>
                </a:solidFill>
              </a:rPr>
              <a:t> /</a:t>
            </a:r>
            <a:r>
              <a:rPr sz="1350" b="0" dirty="0" err="1">
                <a:solidFill>
                  <a:srgbClr val="111111"/>
                </a:solidFill>
              </a:rPr>
              <a:t>api</a:t>
            </a:r>
            <a:r>
              <a:rPr sz="1350" b="0" dirty="0">
                <a:solidFill>
                  <a:srgbClr val="111111"/>
                </a:solidFill>
              </a:rPr>
              <a:t>/docs, </a:t>
            </a:r>
            <a:r>
              <a:rPr sz="1350" b="0" dirty="0" err="1">
                <a:solidFill>
                  <a:srgbClr val="111111"/>
                </a:solidFill>
              </a:rPr>
              <a:t>готовность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lang="ru-RU" sz="1350" b="0" dirty="0">
                <a:solidFill>
                  <a:srgbClr val="111111"/>
                </a:solidFill>
              </a:rPr>
              <a:t>-</a:t>
            </a:r>
            <a:r>
              <a:rPr sz="1350" b="0" dirty="0">
                <a:solidFill>
                  <a:srgbClr val="111111"/>
                </a:solidFill>
              </a:rPr>
              <a:t> /</a:t>
            </a:r>
            <a:r>
              <a:rPr sz="1350" b="0" dirty="0" err="1">
                <a:solidFill>
                  <a:srgbClr val="111111"/>
                </a:solidFill>
              </a:rPr>
              <a:t>api</a:t>
            </a:r>
            <a:r>
              <a:rPr sz="1350" b="0" dirty="0">
                <a:solidFill>
                  <a:srgbClr val="111111"/>
                </a:solidFill>
              </a:rPr>
              <a:t>/health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/</a:t>
            </a:r>
            <a:r>
              <a:rPr sz="1350" b="0" dirty="0" err="1">
                <a:solidFill>
                  <a:srgbClr val="111111"/>
                </a:solidFill>
              </a:rPr>
              <a:t>api</a:t>
            </a:r>
            <a:r>
              <a:rPr sz="1350" b="0" dirty="0">
                <a:solidFill>
                  <a:srgbClr val="111111"/>
                </a:solidFill>
              </a:rPr>
              <a:t>/info.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5F2BA9-748F-7045-B21A-23F92A915F6A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19" b="16019"/>
          <a:stretch>
            <a:fillRect/>
          </a:stretch>
        </p:blipFill>
        <p:spPr>
          <a:xfrm>
            <a:off x="1248684" y="1685784"/>
            <a:ext cx="5058928" cy="2803333"/>
          </a:xfr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BC4EA5D-7FFF-EE44-AE7F-F60F21E248BE}"/>
              </a:ext>
            </a:extLst>
          </p:cNvPr>
          <p:cNvPicPr>
            <a:picLocks noGrp="1" noChangeAspect="1"/>
          </p:cNvPicPr>
          <p:nvPr>
            <p:ph type="pic" idx="1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9" b="6619"/>
          <a:stretch>
            <a:fillRect/>
          </a:stretch>
        </p:blipFill>
        <p:spPr>
          <a:xfrm>
            <a:off x="6651711" y="1687189"/>
            <a:ext cx="4892001" cy="2801928"/>
          </a:xfrm>
        </p:spPr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ПРОТОТИП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Сдано</a:t>
            </a:r>
            <a:r>
              <a:rPr sz="1350" b="0" dirty="0">
                <a:solidFill>
                  <a:srgbClr val="111111"/>
                </a:solidFill>
              </a:rPr>
              <a:t>: </a:t>
            </a:r>
            <a:r>
              <a:rPr sz="1350" b="0" dirty="0" err="1">
                <a:solidFill>
                  <a:srgbClr val="111111"/>
                </a:solidFill>
              </a:rPr>
              <a:t>исходный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код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закреплённая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модель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манифест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офлайн-образ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с</a:t>
            </a:r>
            <a:r>
              <a:rPr sz="1350" b="0" dirty="0">
                <a:solidFill>
                  <a:srgbClr val="111111"/>
                </a:solidFill>
              </a:rPr>
              <a:t> CUDA, </a:t>
            </a:r>
            <a:r>
              <a:rPr sz="1350" b="0" dirty="0" err="1">
                <a:solidFill>
                  <a:srgbClr val="111111"/>
                </a:solidFill>
              </a:rPr>
              <a:t>три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файла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предсказаний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рецепт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обучения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доказательная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база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Проверено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локально</a:t>
            </a:r>
            <a:r>
              <a:rPr sz="1350" b="0" dirty="0">
                <a:solidFill>
                  <a:srgbClr val="111111"/>
                </a:solidFill>
              </a:rPr>
              <a:t>: </a:t>
            </a:r>
            <a:r>
              <a:rPr sz="1350" b="0" dirty="0" err="1">
                <a:solidFill>
                  <a:srgbClr val="111111"/>
                </a:solidFill>
              </a:rPr>
              <a:t>пересобранный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образ</a:t>
            </a:r>
            <a:r>
              <a:rPr sz="1350" b="0" dirty="0">
                <a:solidFill>
                  <a:srgbClr val="111111"/>
                </a:solidFill>
              </a:rPr>
              <a:t>, Python </a:t>
            </a:r>
            <a:r>
              <a:rPr sz="1350" b="0" dirty="0" err="1">
                <a:solidFill>
                  <a:srgbClr val="111111"/>
                </a:solidFill>
              </a:rPr>
              <a:t>и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нативный</a:t>
            </a:r>
            <a:r>
              <a:rPr sz="1350" b="0" dirty="0">
                <a:solidFill>
                  <a:srgbClr val="111111"/>
                </a:solidFill>
              </a:rPr>
              <a:t> GPU-</a:t>
            </a:r>
            <a:r>
              <a:rPr sz="1350" b="0" dirty="0" err="1">
                <a:solidFill>
                  <a:srgbClr val="111111"/>
                </a:solidFill>
              </a:rPr>
              <a:t>путь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повторяемость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независимость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запросов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отсутствие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точных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пересечений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входов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 err="1">
                <a:solidFill>
                  <a:srgbClr val="111111"/>
                </a:solidFill>
              </a:rPr>
              <a:t>Ссылки</a:t>
            </a:r>
            <a:r>
              <a:rPr sz="1350" b="0" dirty="0">
                <a:solidFill>
                  <a:srgbClr val="111111"/>
                </a:solidFill>
              </a:rPr>
              <a:t>: </a:t>
            </a:r>
            <a:r>
              <a:rPr sz="1350" b="0" dirty="0" err="1">
                <a:solidFill>
                  <a:srgbClr val="111111"/>
                </a:solidFill>
              </a:rPr>
              <a:t>репозиторий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gitlab.com</a:t>
            </a:r>
            <a:r>
              <a:rPr sz="1350" b="0" dirty="0">
                <a:solidFill>
                  <a:srgbClr val="111111"/>
                </a:solidFill>
              </a:rPr>
              <a:t>/</a:t>
            </a:r>
            <a:r>
              <a:rPr sz="1350" b="0" dirty="0" err="1">
                <a:solidFill>
                  <a:srgbClr val="111111"/>
                </a:solidFill>
              </a:rPr>
              <a:t>kadvoryadkin</a:t>
            </a:r>
            <a:r>
              <a:rPr sz="1350" b="0" dirty="0">
                <a:solidFill>
                  <a:srgbClr val="111111"/>
                </a:solidFill>
              </a:rPr>
              <a:t>/lct-2026, </a:t>
            </a:r>
            <a:r>
              <a:rPr sz="1350" b="0" dirty="0" err="1">
                <a:solidFill>
                  <a:srgbClr val="111111"/>
                </a:solidFill>
              </a:rPr>
              <a:t>демо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lct.znatalk.ai</a:t>
            </a:r>
            <a:r>
              <a:rPr sz="1350" b="0" dirty="0">
                <a:solidFill>
                  <a:srgbClr val="111111"/>
                </a:solidFill>
              </a:rPr>
              <a:t>, </a:t>
            </a:r>
            <a:r>
              <a:rPr sz="1350" b="0" dirty="0" err="1">
                <a:solidFill>
                  <a:srgbClr val="111111"/>
                </a:solidFill>
              </a:rPr>
              <a:t>пояснительная</a:t>
            </a:r>
            <a:r>
              <a:rPr sz="1350" b="0" dirty="0">
                <a:solidFill>
                  <a:srgbClr val="111111"/>
                </a:solidFill>
              </a:rPr>
              <a:t> </a:t>
            </a:r>
            <a:r>
              <a:rPr sz="1350" b="0" dirty="0" err="1">
                <a:solidFill>
                  <a:srgbClr val="111111"/>
                </a:solidFill>
              </a:rPr>
              <a:t>записка</a:t>
            </a:r>
            <a:r>
              <a:rPr sz="1350" b="0" dirty="0">
                <a:solidFill>
                  <a:srgbClr val="111111"/>
                </a:solidFill>
              </a:rPr>
              <a:t> docs/</a:t>
            </a:r>
            <a:r>
              <a:rPr sz="1350" b="0" dirty="0" err="1">
                <a:solidFill>
                  <a:srgbClr val="111111"/>
                </a:solidFill>
              </a:rPr>
              <a:t>Пояснительная_записка.pdf</a:t>
            </a:r>
            <a:r>
              <a:rPr sz="1350" b="0" dirty="0">
                <a:solidFill>
                  <a:srgbClr val="111111"/>
                </a:solidFill>
              </a:rPr>
              <a:t>.</a:t>
            </a:r>
          </a:p>
          <a:p>
            <a:pPr>
              <a:spcAft>
                <a:spcPts val="500"/>
              </a:spcAft>
              <a:defRPr sz="13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dirty="0">
                <a:solidFill>
                  <a:srgbClr val="111111"/>
                </a:solidFill>
              </a:rPr>
              <a:t>SEARCH 92,005 %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A83FA91-883A-0168-8075-96CEB9DCA3C2}" type="slidenum">
              <a:t>16</a:t>
            </a:fld>
            <a:endParaRPr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sz="2000">
                <a:solidFill>
                  <a:schemeClr val="accent5"/>
                </a:solidFill>
              </a:rPr>
              <a:t>ИТОГИ И ССЫЛКИ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11176</TotalTime>
  <Words>1717</Words>
  <Application>Microsoft Macintosh PowerPoint</Application>
  <PresentationFormat>Широкоэкранный</PresentationFormat>
  <Paragraphs>200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Цифровой признак автомобиля без госномера</vt:lpstr>
      <vt:lpstr>КОМАНДА «ZNATALK.AI»</vt:lpstr>
      <vt:lpstr>КОМАНДА</vt:lpstr>
      <vt:lpstr>ИСТОРИЯ КОМАНДЫ</vt:lpstr>
      <vt:lpstr>КОРОТКО О РЕШЕНИИ</vt:lpstr>
      <vt:lpstr>МЕТОДОЛОГИЯ И BACKBONE</vt:lpstr>
      <vt:lpstr>ПРОТОКОЛ ОБУЧЕНИЯ</vt:lpstr>
      <vt:lpstr>ПУТЬ ОПЕРАТОРА</vt:lpstr>
      <vt:lpstr>АРХИТЕКТУРА СЕРВИСА</vt:lpstr>
      <vt:lpstr>КАЧЕСТВО ПОИСКА</vt:lpstr>
      <vt:lpstr>КАЛИБРОВКА ОТКАЗА</vt:lpstr>
      <vt:lpstr>СКОРОСТЬ</vt:lpstr>
      <vt:lpstr>АНАЛИЗ ОШИБОК</vt:lpstr>
      <vt:lpstr>ПЛАН МАСШТАБИРОВАНИЯ</vt:lpstr>
      <vt:lpstr>ПРОТОТИП</vt:lpstr>
      <vt:lpstr>ИТОГИ И ССЫЛКИ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Дворядкин Кирилл Андреевич</dc:creator>
  <cp:keywords/>
  <dc:description/>
  <cp:lastModifiedBy>Кирилл Дворядкин</cp:lastModifiedBy>
  <cp:revision>103</cp:revision>
  <dcterms:created xsi:type="dcterms:W3CDTF">2023-05-15T07:36:23Z</dcterms:created>
  <dcterms:modified xsi:type="dcterms:W3CDTF">2026-09-29T15:44:11Z</dcterms:modified>
  <cp:category/>
</cp:coreProperties>
</file>